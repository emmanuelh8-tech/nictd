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E8A8A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Field team</c:v>
                  </c:pt>
                  <c:pt idx="1">
                    <c:v>Data team</c:v>
                  </c:pt>
                  <c:pt idx="2">
                    <c:v>Management</c:v>
                  </c:pt>
                  <c:pt idx="3">
                    <c:v>Contingency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390250</c:v>
                </c:pt>
                <c:pt idx="1">
                  <c:v>57500</c:v>
                </c:pt>
                <c:pt idx="2">
                  <c:v>16500</c:v>
                </c:pt>
                <c:pt idx="3">
                  <c:v>46425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0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this is not just a website, it is a paradigm shift — the first time Liberia can measure its own digital development. Set the tone: confident, national, evidence-driven. Do NOT open the product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management problem, not a tech problem. The quote is the anchor line — pause on it. This sets up why the database matters before you show any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breadth: this is not just "internet users." It is six domains that together describe the whole digital economy — supply, demand, affordability, market, governance and sustainability. 30 indicators, all 15 counties.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de-risks the ask. Emphasize: the hard part — designing and building the platform — is done. The money is for data collection and operations, not R&amp;D. Low execution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concrete about the money: it funds field data collection across all 15 counties — enumerators, supervisors, a data team, ~10,000 household interviews — over ~11 weeks. After that, annual refresh is cheap. This is where the ask becomes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whichever framework the person in the room owns. For the LTA and Ministry: emphasize the ARREST Agenda and ITU. For UN/World Bank guests: SDG 9.c/17.18 and Digital Economy for Africa. The point: funding this ticks many boxes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ask plainly, then the transition line "Now, let me show you" — and only THEN open the live product. End on confidence: low-risk, aligned,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1C3E5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0195560" y="2788920"/>
            <a:ext cx="0" cy="169164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195560" y="3634740"/>
            <a:ext cx="1465003" cy="84582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4480560"/>
            <a:ext cx="1465003" cy="84582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4480560"/>
            <a:ext cx="0" cy="169164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730557" y="4480560"/>
            <a:ext cx="1465003" cy="84582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8730557" y="3634740"/>
            <a:ext cx="1465003" cy="845820"/>
          </a:xfrm>
          <a:prstGeom prst="line">
            <a:avLst/>
          </a:prstGeom>
          <a:noFill/>
          <a:ln w="15875">
            <a:solidFill>
              <a:srgbClr val="3A6E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26396" y="261975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1399" y="346557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91399" y="515721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26396" y="600303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61393" y="515721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61393" y="3465576"/>
            <a:ext cx="338328" cy="3383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0316" y="4125316"/>
            <a:ext cx="710489" cy="710489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051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LIBERIA   ·   MINISTRY OF POSTS &amp; TELECOMMUNICATIONS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5544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ICT Database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7FD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paradigm shift for Liberia’s technology space.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for the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 Telecommunications Authority (LTA)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guesswork to evidence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decision about Liberia’s digital future is currently made without a 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2235159"/>
            <a:ext cx="302849" cy="302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208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&amp; inconsistent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36829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sits in silos across operators, ministries and one-off donor surveys — not comparable, quickly outdated.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9" y="3561039"/>
            <a:ext cx="302849" cy="3028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3467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county-level picture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69417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see which counties and which people are connected — and which are being left behind.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4886919"/>
            <a:ext cx="302849" cy="3028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6725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hesitates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5020056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baseline and no evidence, donors and investors cannot target funds or hold results accountable.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60920" y="1920240"/>
            <a:ext cx="4343400" cy="3840480"/>
          </a:xfrm>
          <a:prstGeom prst="roundRect">
            <a:avLst>
              <a:gd name="adj" fmla="val 2143"/>
            </a:avLst>
          </a:prstGeom>
          <a:solidFill>
            <a:srgbClr val="12263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60920" y="1920240"/>
            <a:ext cx="4343400" cy="3840480"/>
          </a:xfrm>
          <a:prstGeom prst="roundRect">
            <a:avLst>
              <a:gd name="adj" fmla="val 2143"/>
            </a:avLst>
          </a:prstGeom>
          <a:ln/>
        </p:spPr>
      </p:sp>
      <p:sp>
        <p:nvSpPr>
          <p:cNvPr id="18" name="Text 13"/>
          <p:cNvSpPr/>
          <p:nvPr/>
        </p:nvSpPr>
        <p:spPr>
          <a:xfrm>
            <a:off x="7726680" y="251460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cannot manage what you cannot measure.”</a:t>
            </a:r>
            <a:endParaRPr lang="en-US" sz="2500" dirty="0"/>
          </a:p>
        </p:txBody>
      </p:sp>
      <p:sp>
        <p:nvSpPr>
          <p:cNvPr id="19" name="Text 14"/>
          <p:cNvSpPr/>
          <p:nvPr/>
        </p:nvSpPr>
        <p:spPr>
          <a:xfrm>
            <a:off x="7726680" y="4526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F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ICT Database gives Liberia that measure — for the first time, county by county.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National ICT Database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Liberia’s official, county-by-county source of truth for ICT statistics — six domains in one platform.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566928" cy="566928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9218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025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81328" y="23500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&amp; mobile penetration, urban/rural &amp; gender gaps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39112"/>
            <a:ext cx="566928" cy="566928"/>
          </a:xfrm>
          <a:prstGeom prst="ellipse">
            <a:avLst/>
          </a:prstGeom>
          <a:solidFill>
            <a:srgbClr val="1226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23" y="219218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025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Infrastructure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349240" y="23500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towers, fiber, broadband access points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84464" y="1783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203911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35" y="219218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17152" y="200253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217152" y="23500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connect vs. income; device ownership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39242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1226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11" y="380152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81328" y="395935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businesses, jobs, investment, mobile money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339242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3648456"/>
            <a:ext cx="566928" cy="566928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223" y="380152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Governance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349240" y="395935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protection, digital ID, e-gov, cybersecurity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84464" y="3392424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13064" y="3648456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135" y="3801527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17152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217152" y="395935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and clean energy in the ICT sector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28" y="5622188"/>
            <a:ext cx="231343" cy="23134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52144" y="538581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37" name="Text 28"/>
          <p:cNvSpPr/>
          <p:nvPr/>
        </p:nvSpPr>
        <p:spPr>
          <a:xfrm>
            <a:off x="1152144" y="5769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3520440" y="5486400"/>
            <a:ext cx="502920" cy="502920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228" y="5622188"/>
            <a:ext cx="231343" cy="23134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123944" y="538581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41" name="Text 31"/>
          <p:cNvSpPr/>
          <p:nvPr/>
        </p:nvSpPr>
        <p:spPr>
          <a:xfrm>
            <a:off x="4123944" y="5769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6492240" y="5486400"/>
            <a:ext cx="502920" cy="502920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8028" y="5622188"/>
            <a:ext cx="231343" cy="23134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095744" y="538581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34"/>
          <p:cNvSpPr/>
          <p:nvPr/>
        </p:nvSpPr>
        <p:spPr>
          <a:xfrm>
            <a:off x="7095744" y="5769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9464040" y="5486400"/>
            <a:ext cx="502920" cy="502920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9828" y="5622188"/>
            <a:ext cx="231343" cy="231343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0067544" y="538581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200" dirty="0"/>
          </a:p>
        </p:txBody>
      </p:sp>
      <p:sp>
        <p:nvSpPr>
          <p:cNvPr id="49" name="Text 37"/>
          <p:cNvSpPr/>
          <p:nvPr/>
        </p:nvSpPr>
        <p:spPr>
          <a:xfrm>
            <a:off x="10067544" y="5769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&amp;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the engine is already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concept. </a:t>
            </a:r>
            <a:pPr indent="0" marL="0">
              <a:buNone/>
            </a:pPr>
            <a:r>
              <a:rPr lang="en-US" sz="160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working platform, running today.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0894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9842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national database on cloud infrastructure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2715768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2839212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73405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indicators across all 15 counties, 2018–2025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465576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3589020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348386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county choropleth maps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94360" y="4215384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4338828"/>
            <a:ext cx="210312" cy="210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42336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Open-data downloads and a documented public API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5088636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07008" y="49834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 &amp; an admin control studio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452360" y="1874520"/>
            <a:ext cx="4251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726680" y="20025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3,840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7726680" y="2532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already loaded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452360" y="3081528"/>
            <a:ext cx="4251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7726680" y="32095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7726680" y="37398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covered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452360" y="4288536"/>
            <a:ext cx="4251960" cy="1051560"/>
          </a:xfrm>
          <a:prstGeom prst="roundRect">
            <a:avLst>
              <a:gd name="adj" fmla="val 7826"/>
            </a:avLst>
          </a:prstGeom>
          <a:solidFill>
            <a:srgbClr val="12263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726680" y="4416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7726680" y="49469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tested &amp; running now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funding an idea — you are fueling an engine that is already running.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funding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runs. Funding powers the national data-mining phase that fills it with real, verified Liberian data — then a low-cost annual refresh.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data-mining phase — cost composition (US$)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286000"/>
          <a:ext cx="6126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214884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12263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78040" y="22860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US$ 510,675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78040" y="28895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one-time data-mining phase (incl. 10% contingency)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361188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68312" y="3904488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756" y="402793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37581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589520" y="41879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workforce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372600" y="361188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7192" y="3904488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402793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0" y="375818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~10,000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058400" y="418795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interviews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03720" y="4828032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68312" y="5120640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56" y="52440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9743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589520" y="54041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data-team specialists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372600" y="4828032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537192" y="5120640"/>
            <a:ext cx="457200" cy="45720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524408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0" y="49743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≈11 wks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10058400" y="54041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publish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every agenda that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a direct deliverable for the frameworks Liberia and its partners are already committed 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02536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" y="214079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295144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SDG 9.c (universal access) &amp; 17.18 (disaggregated data)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02536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77" y="214079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9659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85232" y="2295144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Universal Meaningful Connectivity by 2030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84464" y="1783080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002536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889" y="214079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19659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153144" y="2295144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diagnostic behind Digital Economy for Africa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72968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392424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65" y="353068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3558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3685032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“Leave no one behind” — pinpoints the underserved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6552" y="3172968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392424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977" y="353068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3558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Digital Compact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85232" y="3685032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digital divides with real evidence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84464" y="3172968"/>
            <a:ext cx="3611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3392424"/>
            <a:ext cx="512064" cy="512064"/>
          </a:xfrm>
          <a:prstGeom prst="ellipse">
            <a:avLst/>
          </a:prstGeom>
          <a:solidFill>
            <a:srgbClr val="1C3E5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889" y="3530681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33558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/ Smart Africa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153144" y="3685032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digital public infrastructure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230368"/>
            <a:ext cx="11155680" cy="1170432"/>
          </a:xfrm>
          <a:prstGeom prst="roundRect">
            <a:avLst>
              <a:gd name="adj" fmla="val 7031"/>
            </a:avLst>
          </a:prstGeom>
          <a:solidFill>
            <a:srgbClr val="12263A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8900" dist="38100" dir="5400000">
              <a:srgbClr val="AEB9C4">
                <a:alpha val="4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68680" y="548640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439" y="5664159"/>
            <a:ext cx="302849" cy="3028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91640" y="54132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Liberia’s ARREST Agenda   </a:t>
            </a:r>
            <a:pPr indent="0" marL="0">
              <a:buNone/>
            </a:pPr>
            <a:r>
              <a:rPr lang="en-US" sz="1200" i="1" dirty="0">
                <a:solidFill>
                  <a:srgbClr val="9F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(Agriculture · Roads · Rule of law · Education · Sanitation · Tourism)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1691640" y="579729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the measurement backbone for the digital enabler that runs across the entire national development plan.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4937760" cy="4937760"/>
          </a:xfrm>
          <a:prstGeom prst="ellipse">
            <a:avLst/>
          </a:prstGeom>
          <a:solidFill>
            <a:srgbClr val="1C3E5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685800" y="4114800"/>
            <a:ext cx="0" cy="13716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85800" y="4800600"/>
            <a:ext cx="1187840" cy="6858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486400"/>
            <a:ext cx="1187840" cy="6858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5486400"/>
            <a:ext cx="0" cy="13716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-502040" y="5486400"/>
            <a:ext cx="1187840" cy="6858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-502040" y="4800600"/>
            <a:ext cx="1187840" cy="685800"/>
          </a:xfrm>
          <a:prstGeom prst="line">
            <a:avLst/>
          </a:prstGeom>
          <a:noFill/>
          <a:ln w="13970">
            <a:solidFill>
              <a:srgbClr val="3A6E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736480" y="46634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736480" y="60350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720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-639200" y="60350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-639200" y="46634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764" y="5198364"/>
            <a:ext cx="576072" cy="57607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143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data. Unlock the map.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6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data collection and operations that turn a working platform into Liberia’s definitive, county-level digital evidence base.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3577133"/>
            <a:ext cx="252374" cy="2523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50876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already works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26280" y="3429000"/>
            <a:ext cx="548640" cy="54864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3577133"/>
            <a:ext cx="252374" cy="25237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12080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21208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ARREST Agenda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229600" y="3429000"/>
            <a:ext cx="548640" cy="548640"/>
          </a:xfrm>
          <a:prstGeom prst="ellipse">
            <a:avLst/>
          </a:prstGeom>
          <a:solidFill>
            <a:srgbClr val="1E8A8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3577133"/>
            <a:ext cx="252374" cy="25237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915400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91540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SDGs, ITU &amp; World Bank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2296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7FD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let me show you.</a:t>
            </a:r>
            <a:endParaRPr lang="en-US" sz="3000" dirty="0"/>
          </a:p>
        </p:txBody>
      </p:sp>
      <p:sp>
        <p:nvSpPr>
          <p:cNvPr id="32" name="Text 27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ICT Database of Liberia   ·   Ministry of Posts &amp; Telecommunications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ICT Database of Liberia — LTA Briefing</dc:title>
  <dc:subject>PptxGenJS Presentation</dc:subject>
  <dc:creator>NICTD</dc:creator>
  <cp:lastModifiedBy>NICTD</cp:lastModifiedBy>
  <cp:revision>1</cp:revision>
  <dcterms:created xsi:type="dcterms:W3CDTF">2026-07-26T13:51:04Z</dcterms:created>
  <dcterms:modified xsi:type="dcterms:W3CDTF">2026-07-26T13:51:04Z</dcterms:modified>
</cp:coreProperties>
</file>