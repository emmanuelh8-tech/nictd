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slowly and with weight. This is not a website pitch — it is a national project. "My name is Emmanuel Daniel Harris, and this is the National ICT Database Project." Set the tone: confident, national, evidence-driven.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story: "Tomorrow an agency sits down to decide where to invest… Liberia is already at a disadvantage." Land the giant-in-the-room line. Kenya and Rwanda took ownership of their data; Liberia stays invisible. End on the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thesis. "Data sovereignty is a must." We stop outsourcing the truth about ourselves. Build once, trust everywhere — the foundation every other system relies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it plainly. Not "a website" — a national measurement system. 30 indicators, 6 domains, all 15 counties. The right panel makes it concrete: the investor who moves because the gap is finally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vivid vignettes — investor, fintech, agribusiness, donor. Each one is the difference between Liberia being read and being passed over. Keep them concrete; these are the "imagine…" moments from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phases left to right. Emphasise this is sequenced and fundable in stages: build, collect, populate, launch, sustain. Phase 5 (accent) is the part most projects forget — governance keeps the truth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project to A-R-R-E-S-T so leadership sees it as national infrastructure for their own agenda, not a side project. The database does not compete with the agenda — it measures and de-risks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this is how Liberia stops being invisible to the ITU/UNDP/World Bank/SDG apparatus. We supply the numbers, on our terms — which is exactly what unlocks targeted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and political core for a Liberian audience: jobs and skills stay here. Nearly 200 field and data roles, plus a permanent ICT statistics capability — a pipeline of tech, research and data-engineering careers for young Liberians.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story into an ask. Three concrete requests: endorsement, phased funding, and a data-reporting mandate. Reframe from "IT project" to "what kind of state we intend to be."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human line — knowing who we are should be something the government already knows. Thank them. End with the Harris &amp; Associates tagline. Pause before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303520" cy="5303520"/>
          </a:xfrm>
          <a:prstGeom prst="ellipse">
            <a:avLst/>
          </a:prstGeom>
          <a:solidFill>
            <a:srgbClr val="1278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0149840" y="2788920"/>
            <a:ext cx="0" cy="1737360"/>
          </a:xfrm>
          <a:prstGeom prst="line">
            <a:avLst/>
          </a:prstGeom>
          <a:noFill/>
          <a:ln w="15875">
            <a:solidFill>
              <a:srgbClr val="2E7D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149840" y="3657600"/>
            <a:ext cx="1504598" cy="868680"/>
          </a:xfrm>
          <a:prstGeom prst="line">
            <a:avLst/>
          </a:prstGeom>
          <a:noFill/>
          <a:ln w="15875">
            <a:solidFill>
              <a:srgbClr val="2E7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4526280"/>
            <a:ext cx="1504598" cy="868680"/>
          </a:xfrm>
          <a:prstGeom prst="line">
            <a:avLst/>
          </a:prstGeom>
          <a:noFill/>
          <a:ln w="15875">
            <a:solidFill>
              <a:srgbClr val="2E7D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4526280"/>
            <a:ext cx="0" cy="1737360"/>
          </a:xfrm>
          <a:prstGeom prst="line">
            <a:avLst/>
          </a:prstGeom>
          <a:noFill/>
          <a:ln w="15875">
            <a:solidFill>
              <a:srgbClr val="2E7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645242" y="4526280"/>
            <a:ext cx="1504598" cy="868680"/>
          </a:xfrm>
          <a:prstGeom prst="line">
            <a:avLst/>
          </a:prstGeom>
          <a:noFill/>
          <a:ln w="15875">
            <a:solidFill>
              <a:srgbClr val="2E7D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8645242" y="3657600"/>
            <a:ext cx="1504598" cy="868680"/>
          </a:xfrm>
          <a:prstGeom prst="line">
            <a:avLst/>
          </a:prstGeom>
          <a:noFill/>
          <a:ln w="15875">
            <a:solidFill>
              <a:srgbClr val="2E7D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76104" y="26151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80702" y="348386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80702" y="522122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976104" y="608990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71506" y="522122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471506" y="348386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994" y="4161434"/>
            <a:ext cx="729691" cy="729691"/>
          </a:xfrm>
          <a:prstGeom prst="ellipse">
            <a:avLst/>
          </a:prstGeom>
          <a:solidFill>
            <a:srgbClr val="34B1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9601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OF LIBERIA   ·   A HARRIS &amp; ASSOCIATES LLC INITIATIVE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417320"/>
            <a:ext cx="8961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ICT</a:t>
            </a:r>
            <a:endParaRPr lang="en-US" sz="5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Project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i="1" dirty="0">
                <a:solidFill>
                  <a:srgbClr val="8FE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ownership of Liberia’s data — one verified source of truth, built once and trusted everywhere.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Daniel Harris</a:t>
            </a:r>
            <a:pPr indent="0" marL="0">
              <a:buNone/>
            </a:pPr>
            <a:r>
              <a:rPr lang="en-US" sz="140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Harris &amp; Associates LLC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giant in the room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37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7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international agency decides where to invest in rural connectivity, Liberia cannot show — in real time — which towns most need the next broadband tower, the next payment agent, the next mile of fiber.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58368" cy="658368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269235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4780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 already stale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843784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lean on a general LIGIS survey, operator returns from three years ago, or a donor report that covered four counties and not the other eleven.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813048"/>
            <a:ext cx="658368" cy="658368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9" y="3990807"/>
            <a:ext cx="302849" cy="302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776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county-level truth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4142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live picture of which communities are connected and which are being left behind — so need cannot be proven.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111496"/>
            <a:ext cx="658368" cy="658368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5289255"/>
            <a:ext cx="302849" cy="3028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 stays invisible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71600" y="5440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flows to countries that took ownership of their data — Kenya, Rwanda — while Liberia’s real, burning need goes unseen.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452360" y="2377440"/>
            <a:ext cx="4160520" cy="3246120"/>
          </a:xfrm>
          <a:prstGeom prst="roundRect">
            <a:avLst>
              <a:gd name="adj" fmla="val 2535"/>
            </a:avLst>
          </a:prstGeom>
          <a:solidFill>
            <a:srgbClr val="0B5D34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63524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34B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19" name="Text 14"/>
          <p:cNvSpPr/>
          <p:nvPr/>
        </p:nvSpPr>
        <p:spPr>
          <a:xfrm>
            <a:off x="7818120" y="32004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built a nation that generates data everywhere and centralizes it nowhere.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7818120" y="4892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technology problem — it is a decision we have not yet made.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 is not optional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7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keep relying on the ITU or foreign agencies to be the source of truth for Liberia’s ICT data. We take ownership of it — and make it accessible to anyone looking for ICT data on Liberia, from anywhere in the world.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80360"/>
            <a:ext cx="713232" cy="713232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245" y="3072933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438912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verified, national record — instead of scattered silos that never agree.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60604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5304" y="2880360"/>
            <a:ext cx="713232" cy="713232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877" y="3072933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Liberia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75304" y="438912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numbers, reported on our terms — not estimated for us by others abroad.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260604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45936" y="2880360"/>
            <a:ext cx="713232" cy="713232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509" y="3072933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&amp; current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345936" y="438912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versioned and kept up to date, so decisions rest on evidence, not guesswork.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60536" y="260604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16568" y="2880360"/>
            <a:ext cx="713232" cy="713232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141" y="3072933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partners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116568" y="438912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ministries and donors read from the same file — the moment they need it.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our responsibility to build the single source of truth that every other system should have been able to rely on from the beginning.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Liberia’s first National ICT Database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7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national data hub that measures Liberia’s digital development across every county — connectivity, access, affordability, market structure, digital trust and sustainability — and publishes it as one authoritative, open record.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03504" cy="603504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" y="304330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8254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indicators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98448" y="319125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policy domains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721608"/>
            <a:ext cx="603504" cy="603504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6" y="3884554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6667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counties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98448" y="40325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county, not a sample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562856"/>
            <a:ext cx="603504" cy="603504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4725802"/>
            <a:ext cx="277612" cy="277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5079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3,840+ data points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298448" y="48737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time-series, versioned &amp; sourced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5404104"/>
            <a:ext cx="603504" cy="603504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86" y="5567050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5349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298448" y="5715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stakeholder &amp; partner tiers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138160" y="1417320"/>
            <a:ext cx="3502152" cy="4572000"/>
          </a:xfrm>
          <a:prstGeom prst="roundRect">
            <a:avLst>
              <a:gd name="adj" fmla="val 2350"/>
            </a:avLst>
          </a:prstGeom>
          <a:solidFill>
            <a:srgbClr val="0B5D34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 flipV="1">
            <a:off x="9875520" y="1737360"/>
            <a:ext cx="0" cy="1051560"/>
          </a:xfrm>
          <a:prstGeom prst="line">
            <a:avLst/>
          </a:prstGeom>
          <a:noFill/>
          <a:ln w="12700">
            <a:solidFill>
              <a:srgbClr val="2E7D5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 flipV="1">
            <a:off x="9875520" y="2263140"/>
            <a:ext cx="910678" cy="525780"/>
          </a:xfrm>
          <a:prstGeom prst="line">
            <a:avLst/>
          </a:prstGeom>
          <a:noFill/>
          <a:ln w="12700">
            <a:solidFill>
              <a:srgbClr val="2E7D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875520" y="2788920"/>
            <a:ext cx="910678" cy="525780"/>
          </a:xfrm>
          <a:prstGeom prst="line">
            <a:avLst/>
          </a:prstGeom>
          <a:noFill/>
          <a:ln w="12700">
            <a:solidFill>
              <a:srgbClr val="2E7D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75520" y="2788920"/>
            <a:ext cx="0" cy="1051560"/>
          </a:xfrm>
          <a:prstGeom prst="line">
            <a:avLst/>
          </a:prstGeom>
          <a:noFill/>
          <a:ln w="12700">
            <a:solidFill>
              <a:srgbClr val="2E7D5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flipH="1">
            <a:off x="8964842" y="2788920"/>
            <a:ext cx="910678" cy="525780"/>
          </a:xfrm>
          <a:prstGeom prst="line">
            <a:avLst/>
          </a:prstGeom>
          <a:noFill/>
          <a:ln w="12700">
            <a:solidFill>
              <a:srgbClr val="2E7D5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H="1" flipV="1">
            <a:off x="8964842" y="2263140"/>
            <a:ext cx="910678" cy="525780"/>
          </a:xfrm>
          <a:prstGeom prst="line">
            <a:avLst/>
          </a:prstGeom>
          <a:noFill/>
          <a:ln w="12700">
            <a:solidFill>
              <a:srgbClr val="2E7D5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770364" y="163220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10681042" y="215798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10681042" y="320954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9770364" y="373532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8859686" y="320954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8859686" y="215798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28"/>
          <p:cNvSpPr/>
          <p:nvPr/>
        </p:nvSpPr>
        <p:spPr>
          <a:xfrm>
            <a:off x="9654692" y="2568092"/>
            <a:ext cx="441655" cy="441655"/>
          </a:xfrm>
          <a:prstGeom prst="ellipse">
            <a:avLst/>
          </a:prstGeom>
          <a:solidFill>
            <a:srgbClr val="34B14A"/>
          </a:solidFill>
          <a:ln/>
        </p:spPr>
      </p:sp>
      <p:sp>
        <p:nvSpPr>
          <p:cNvPr id="35" name="Text 29"/>
          <p:cNvSpPr/>
          <p:nvPr/>
        </p:nvSpPr>
        <p:spPr>
          <a:xfrm>
            <a:off x="8412480" y="3977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map. One truth.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8412480" y="4526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investor sees the connectivity gap in Grand Kru or River Gee and moves — because Liberia did the work of knowing its own infrastructure before asking anyone to invest in it.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 DATA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possible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731520" cy="73152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22747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investment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248716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investor pulls up a coverage map, sees the gap, and extends fiber — instead of months of ground surveys and guesswork.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29968"/>
            <a:ext cx="731520" cy="73152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90" y="222747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financial inclusion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269480" y="248716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mobile-money provider finds a county with high phone penetration but almost no agents — a market hiding in plain sight — and deploys.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87368"/>
            <a:ext cx="731520" cy="73152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4284878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87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&amp; supply chains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737360" y="454456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agribusiness plans a cold-storage route from Ganta to Buchanan on verified road and warehouse data, not word of mouth.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7947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087368"/>
            <a:ext cx="731520" cy="73152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4284878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87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development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269480" y="454456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funds school connectivity in the ten districts that actually need it — not the ten that happened to have a report written about them.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one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63624" y="2331720"/>
            <a:ext cx="8924544" cy="0"/>
          </a:xfrm>
          <a:prstGeom prst="line">
            <a:avLst/>
          </a:prstGeom>
          <a:noFill/>
          <a:ln w="25400">
            <a:solidFill>
              <a:srgbClr val="6FAE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19659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2163470"/>
            <a:ext cx="336499" cy="3364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92608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Software development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" y="3794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secure platform: data model, explorer, dashboards, admin studio and role-based access.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9659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510" y="2163470"/>
            <a:ext cx="336499" cy="33649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34056" y="292608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880360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collection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80360" y="3794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field programme — researchers, enumerators and supervisors gather ICT data in all 15 counties.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0136" y="19659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2163470"/>
            <a:ext cx="336499" cy="33649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965192" y="292608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111496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Population of the site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11496" y="3794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data team cleans, weights, geocodes and validates the data, then publishes it through the review queue.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891272" y="19659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2163470"/>
            <a:ext cx="336499" cy="336499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196328" y="292608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342632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Launch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342632" y="3794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release as Liberia’s official ICT statistics hub — open to citizens, ministries, investors and partners.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0122408" y="1965960"/>
            <a:ext cx="731520" cy="731520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9918" y="2163470"/>
            <a:ext cx="336499" cy="336499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427464" y="292608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9573768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Maintenance &amp; governance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573768" y="3794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cycles, quality assurance and a standing unit that keeps the single source of truth current.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2–3 alone create a nationwide field and data-engineering workforce — see slide 9.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for the President’s ARREST 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pillar of the ARREST agenda runs better on verified data. The database is the instrument that measures progress and targets investment.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404872"/>
            <a:ext cx="603504" cy="603504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30" y="256781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597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3081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and market-price reach for farmers; routing produce on real infrastructure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21488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404872"/>
            <a:ext cx="603504" cy="603504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50" y="256781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4597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&amp; infrastructure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89704" y="3081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inventory of towers, fiber and corridor condition to target infrastructure where it is needed.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21488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93024" y="2404872"/>
            <a:ext cx="603504" cy="603504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970" y="2567818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Law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93024" y="30815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auditable public records — trust and transparency instead of paperwork and suspicion.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148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" y="4370832"/>
            <a:ext cx="603504" cy="603504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30" y="4533778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4256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86384" y="50474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School-connectivity rates showing which classrooms actually have power and internet.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51960" y="41148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4370832"/>
            <a:ext cx="603504" cy="603504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650" y="4533778"/>
            <a:ext cx="277612" cy="2776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44256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&amp; Health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89704" y="50474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Health-facility digital-readiness data — which clinics could support telemedicine today.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55280" y="41148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93024" y="4370832"/>
            <a:ext cx="603504" cy="603504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970" y="4533778"/>
            <a:ext cx="277612" cy="2776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400" y="44256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193024" y="50474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digital-payment data that tourism and hospitality investment depend on.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our own numbers to the world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record that serves Liberia feeds the global frameworks that decide where development finance goes — sourced here, not estimated abroad.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713232" cy="713232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661453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5054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19072" y="298094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evidence for SDG 9 (infrastructure &amp; universal ICT access, 9.c) and SDG 17.18 (disaggregated national data).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219456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2468880"/>
            <a:ext cx="713232" cy="713232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653" y="2661453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5054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251192" y="298094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 reporting its own ICT Development Index inputs — from a national source, not third-party estimates.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4535973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4379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UNDP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719072" y="485546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baseline for digital transformation and inclusive digital-development programming.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80760" y="406908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4343400"/>
            <a:ext cx="713232" cy="713232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653" y="4535973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379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251192" y="485546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Infrastructure and GovTech readiness backed by verified, current national statistics.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LIBERIAN WORKFORCE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 in tech, ICT research &amp; data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not import a solution — it employs and trains young Liberians to build and run it. Data collection and processing alone put a nationwide workforce to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063D22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95728"/>
            <a:ext cx="2615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B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enumerators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2860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063D22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2395728"/>
            <a:ext cx="2615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B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56432" y="3108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supervisors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9904" y="22860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063D22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2395728"/>
            <a:ext cx="2615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B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27064" y="3108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research leads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0536" y="22860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063D22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0536" y="2395728"/>
            <a:ext cx="2615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B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97696" y="31089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field &amp; data roles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4080053"/>
            <a:ext cx="252374" cy="2523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43584" y="39684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  </a:t>
            </a:r>
            <a:pPr indent="0" marL="0">
              <a:buNone/>
            </a:pPr>
            <a:r>
              <a:rPr lang="en-US" sz="135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building and maintaining the national platform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498848"/>
            <a:ext cx="548640" cy="548640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4646981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43584" y="45354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researchers &amp; enumerators  </a:t>
            </a:r>
            <a:pPr indent="0" marL="0">
              <a:buNone/>
            </a:pPr>
            <a:r>
              <a:rPr lang="en-US" sz="135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trained data collectors in every county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548640" y="5065776"/>
            <a:ext cx="548640" cy="548640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213909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43584" y="51023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&amp; GIS analysts  </a:t>
            </a:r>
            <a:pPr indent="0" marL="0">
              <a:buNone/>
            </a:pPr>
            <a:r>
              <a:rPr lang="en-US" sz="135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pipelines, geocoding and the review queue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48640" y="5632704"/>
            <a:ext cx="548640" cy="548640"/>
          </a:xfrm>
          <a:prstGeom prst="ellipse">
            <a:avLst/>
          </a:prstGeom>
          <a:solidFill>
            <a:srgbClr val="34B14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5780837"/>
            <a:ext cx="252374" cy="2523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43584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Statisticians &amp; QA analysts  </a:t>
            </a:r>
            <a:pPr indent="0" marL="0">
              <a:buNone/>
            </a:pPr>
            <a:r>
              <a:rPr lang="en-US" sz="135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weighting, validation and a standing ICT-stats unit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simply an IT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127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statement about what kind of state we intend to be — one where a citizen’s relationship with government is built on trust and speed, not suspicion and paperwork.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529584" cy="2606040"/>
          </a:xfrm>
          <a:prstGeom prst="roundRect">
            <a:avLst>
              <a:gd name="adj" fmla="val 3158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3375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353507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6817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NICTD as Liberia’s official ICT-statistics hub and data-sovereignty initiative.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3063240"/>
            <a:ext cx="3529584" cy="2606040"/>
          </a:xfrm>
          <a:prstGeom prst="roundRect">
            <a:avLst>
              <a:gd name="adj" fmla="val 3158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33375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353507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4206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by phase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26280" y="46817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phased plan — development, the nationwide data-collection drive, launch and maintenance.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55280" y="3063240"/>
            <a:ext cx="3529584" cy="2606040"/>
          </a:xfrm>
          <a:prstGeom prst="roundRect">
            <a:avLst>
              <a:gd name="adj" fmla="val 3158"/>
            </a:avLst>
          </a:prstGeom>
          <a:solidFill>
            <a:srgbClr val="F4FAF6"/>
          </a:solidFill>
          <a:ln w="12700">
            <a:solidFill>
              <a:srgbClr val="D7E5DC"/>
            </a:solidFill>
            <a:prstDash val="solid"/>
          </a:ln>
          <a:effectLst>
            <a:outerShdw sx="100000" sy="100000" kx="0" ky="0" algn="bl" rotWithShape="0" blurRad="88900" dist="38100" dir="5400000">
              <a:srgbClr val="B8C9BE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3337560"/>
            <a:ext cx="731520" cy="731520"/>
          </a:xfrm>
          <a:prstGeom prst="ellipse">
            <a:avLst/>
          </a:prstGeom>
          <a:solidFill>
            <a:srgbClr val="0B5D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0" y="3535070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4206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partnership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29600" y="46817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mandate for operators and ministries to report into one shared, verified national record.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one system every other system should have been able to rely on from the beginning.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291840"/>
            <a:ext cx="4754880" cy="4754880"/>
          </a:xfrm>
          <a:prstGeom prst="ellipse">
            <a:avLst/>
          </a:prstGeom>
          <a:solidFill>
            <a:srgbClr val="12784A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0881360" y="4114800"/>
            <a:ext cx="0" cy="1234440"/>
          </a:xfrm>
          <a:prstGeom prst="line">
            <a:avLst/>
          </a:prstGeom>
          <a:noFill/>
          <a:ln w="13970">
            <a:solidFill>
              <a:srgbClr val="2E7D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881360" y="4732020"/>
            <a:ext cx="1069056" cy="617220"/>
          </a:xfrm>
          <a:prstGeom prst="line">
            <a:avLst/>
          </a:prstGeom>
          <a:noFill/>
          <a:ln w="13970">
            <a:solidFill>
              <a:srgbClr val="2E7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5349240"/>
            <a:ext cx="1069056" cy="617220"/>
          </a:xfrm>
          <a:prstGeom prst="line">
            <a:avLst/>
          </a:prstGeom>
          <a:noFill/>
          <a:ln w="13970">
            <a:solidFill>
              <a:srgbClr val="2E7D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349240"/>
            <a:ext cx="0" cy="1234440"/>
          </a:xfrm>
          <a:prstGeom prst="line">
            <a:avLst/>
          </a:prstGeom>
          <a:noFill/>
          <a:ln w="13970">
            <a:solidFill>
              <a:srgbClr val="2E7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812304" y="5349240"/>
            <a:ext cx="1069056" cy="617220"/>
          </a:xfrm>
          <a:prstGeom prst="line">
            <a:avLst/>
          </a:prstGeom>
          <a:noFill/>
          <a:ln w="13970">
            <a:solidFill>
              <a:srgbClr val="2E7D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9812304" y="4732020"/>
            <a:ext cx="1069056" cy="617220"/>
          </a:xfrm>
          <a:prstGeom prst="line">
            <a:avLst/>
          </a:prstGeom>
          <a:noFill/>
          <a:ln w="13970">
            <a:solidFill>
              <a:srgbClr val="2E7D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57916" y="3991356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26972" y="4608576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26972" y="5843016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57916" y="6460236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688860" y="5843016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88860" y="4608576"/>
            <a:ext cx="246888" cy="2468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22128" y="5090008"/>
            <a:ext cx="518465" cy="518465"/>
          </a:xfrm>
          <a:prstGeom prst="ellipse">
            <a:avLst/>
          </a:prstGeom>
          <a:solidFill>
            <a:srgbClr val="34B14A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1691640"/>
            <a:ext cx="9692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who we are as a nation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not be something we ask a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to prove.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4480" y="37947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8FE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should be something our own government already knows — because we finally built it to.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Daniel Harris</a:t>
            </a:r>
            <a:pPr indent="0" marL="0">
              <a:buNone/>
            </a:pPr>
            <a:r>
              <a:rPr lang="en-US" sz="1500" dirty="0">
                <a:solidFill>
                  <a:srgbClr val="B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Harris &amp; Associates LLC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“Liberian Solutions for Liberian Challenges”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National ICT Database Project</dc:title>
  <dc:subject>PptxGenJS Presentation</dc:subject>
  <dc:creator>Harris &amp; Associates LLC</dc:creator>
  <cp:lastModifiedBy>Harris &amp; Associates LLC</cp:lastModifiedBy>
  <cp:revision>1</cp:revision>
  <dcterms:created xsi:type="dcterms:W3CDTF">2026-09-01T09:51:32Z</dcterms:created>
  <dcterms:modified xsi:type="dcterms:W3CDTF">2026-09-01T09:51:32Z</dcterms:modified>
</cp:coreProperties>
</file>